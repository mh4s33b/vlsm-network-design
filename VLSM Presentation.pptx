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Inter Medium" panose="020B0604020202020204" charset="0"/>
      <p:regular r:id="rId20"/>
      <p:bold r:id="rId21"/>
      <p:italic r:id="rId22"/>
      <p:boldItalic r:id="rId23"/>
    </p:embeddedFont>
    <p:embeddedFont>
      <p:font typeface="Inter SemiBold" panose="020B0604020202020204" charset="0"/>
      <p:regular r:id="rId24"/>
      <p:bold r:id="rId25"/>
      <p:italic r:id="rId26"/>
      <p:boldItalic r:id="rId27"/>
    </p:embeddedFont>
    <p:embeddedFont>
      <p:font typeface="Oswald" panose="00000500000000000000" pitchFamily="2" charset="0"/>
      <p:regular r:id="rId28"/>
      <p:bold r:id="rId29"/>
    </p:embeddedFont>
    <p:embeddedFont>
      <p:font typeface="Oswald Medium" panose="00000600000000000000" pitchFamily="2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6BE454-7F81-4ACC-82B1-54E1188CBA3F}">
  <a:tblStyle styleId="{186BE454-7F81-4ACC-82B1-54E1188CBA3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25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571500"/>
            <a:ext cx="5238750" cy="586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45062"/>
            <a:ext cx="4857750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571500"/>
            <a:ext cx="5100600" cy="25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SECUREBOOKS INC.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ENTERPRISE NETWORK DESIGN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099670"/>
            <a:ext cx="5100600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Oswald"/>
                <a:ea typeface="Oswald"/>
                <a:cs typeface="Oswald"/>
                <a:sym typeface="Oswald"/>
              </a:rPr>
              <a:t>SECURE MULTI</a:t>
            </a:r>
            <a:r>
              <a:rPr lang="en-US" sz="2400">
                <a:solidFill>
                  <a:srgbClr val="475569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400" b="0" i="0" u="none" strike="noStrike" cap="none">
                <a:solidFill>
                  <a:srgbClr val="475569"/>
                </a:solidFill>
                <a:latin typeface="Oswald"/>
                <a:ea typeface="Oswald"/>
                <a:cs typeface="Oswald"/>
                <a:sym typeface="Oswald"/>
              </a:rPr>
              <a:t>SITE INFRASTRUCTURE IMPLEMENTATION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571500"/>
            <a:ext cx="5238750" cy="586903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571500" y="4935587"/>
            <a:ext cx="48579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Group members: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Syed Ahtsham (242364), Ahmed Saleem (242348), Muhammad Haseeb (242292)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5945237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Instructor: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Ms. Maila Zahra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72530"/>
            <a:ext cx="3492549" cy="4613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672530"/>
            <a:ext cx="3492549" cy="4613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672530"/>
            <a:ext cx="3492549" cy="461396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O</a:t>
            </a:r>
            <a:r>
              <a:rPr lang="en-US" sz="3600" b="1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VERVIEW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1262955"/>
            <a:ext cx="11049000" cy="285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41450" y="210115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077545" y="3291780"/>
            <a:ext cx="248031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SECURE CONNECTIVITY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3945135"/>
            <a:ext cx="29211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Designed a secure enterprise network connecting Headquarters (HQ) and Remote Branch operations using industry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best practices.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19750" y="210115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4980860" y="3291780"/>
            <a:ext cx="2230278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ADVANCED ROUTING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35549" y="3945135"/>
            <a:ext cx="292104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Implemented VLSM for efficient IP usage and a Hybrid Routing strategy combining RIPv2 for LANs and Static Routing for secure segments.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98049" y="210115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904178" y="3291780"/>
            <a:ext cx="194024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ACCESS CONTROL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13849" y="3945135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Enforced the Principle of Least Privilege using Extended Access Control Lists (ACLs) to strictly filter traffic flow.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17662" y="233928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57875" y="233928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36174" y="233928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985170"/>
            <a:ext cx="523875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43248"/>
            <a:ext cx="5238750" cy="104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181350"/>
            <a:ext cx="5238750" cy="1321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693741"/>
            <a:ext cx="5238750" cy="132189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57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PROBLEM STATEMENT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1262955"/>
            <a:ext cx="11049000" cy="285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2487959"/>
            <a:ext cx="5500687" cy="41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NETWORK CONSTRAINTS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308982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current infrastructure faces significant limitations that hinder scalability and security.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04875" y="4270920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"To design a robust network within a restricted IP address space while ensuring maximum security for sensitive zones."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629400" y="2190898"/>
            <a:ext cx="498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IP CONSTRAINT</a:t>
            </a:r>
            <a:endParaRPr sz="1600"/>
          </a:p>
        </p:txBody>
      </p:sp>
      <p:sp>
        <p:nvSpPr>
          <p:cNvPr id="126" name="Google Shape;126;p15"/>
          <p:cNvSpPr txBox="1"/>
          <p:nvPr/>
        </p:nvSpPr>
        <p:spPr>
          <a:xfrm>
            <a:off x="6629400" y="2468909"/>
            <a:ext cx="4743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Restricted to a Single Class C block (172.16.10.0/24).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629400" y="3429000"/>
            <a:ext cx="498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EFFICIENCY</a:t>
            </a:r>
            <a:endParaRPr sz="1600"/>
          </a:p>
        </p:txBody>
      </p:sp>
      <p:sp>
        <p:nvSpPr>
          <p:cNvPr id="128" name="Google Shape;128;p15"/>
          <p:cNvSpPr txBox="1"/>
          <p:nvPr/>
        </p:nvSpPr>
        <p:spPr>
          <a:xfrm>
            <a:off x="6629400" y="3707010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Zero IP wastage requirement necessitating precise subnetting.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629400" y="4941391"/>
            <a:ext cx="498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SECURITY</a:t>
            </a:r>
            <a:endParaRPr sz="1600"/>
          </a:p>
        </p:txBody>
      </p:sp>
      <p:sp>
        <p:nvSpPr>
          <p:cNvPr id="130" name="Google Shape;130;p15"/>
          <p:cNvSpPr txBox="1"/>
          <p:nvPr/>
        </p:nvSpPr>
        <p:spPr>
          <a:xfrm>
            <a:off x="6629400" y="5219402"/>
            <a:ext cx="4743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Secure DMZ deployment with strict traffic filtering policies.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2209948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9400" y="344805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4960441"/>
            <a:ext cx="1905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672530"/>
            <a:ext cx="5238750" cy="461396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71500" y="571500"/>
            <a:ext cx="11601450" cy="57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PROPOSED SOLUTION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1262955"/>
            <a:ext cx="11049000" cy="285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1275" y="1682055"/>
            <a:ext cx="5219700" cy="4594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904875" y="2144166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VLSM</a:t>
            </a:r>
            <a:r>
              <a:rPr lang="en-US" sz="15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based Segmentation: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04875" y="3509962"/>
            <a:ext cx="4905375" cy="901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Hybrid Routing Protocol: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04875" y="4601467"/>
            <a:ext cx="4905375" cy="1175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Extended ACLs:</a:t>
            </a:r>
            <a:endParaRPr/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63216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904875" y="2496591"/>
            <a:ext cx="4905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Utilizing Variable Length Subnet Masking to allocate IP addresses based on exact host requirements, ensuring zero wastage.</a:t>
            </a:r>
            <a:endParaRPr/>
          </a:p>
        </p:txBody>
      </p:sp>
      <p:pic>
        <p:nvPicPr>
          <p:cNvPr id="147" name="Google Shape;14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2901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904875" y="3862387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Deploying RIPv2 for dynamic LAN updates and Static Routing for secure, predictable paths to the DMZ.</a:t>
            </a:r>
            <a:endParaRPr/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2051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904875" y="4953892"/>
            <a:ext cx="4905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Implementing rigorous packet filtering rules to explicitly block Branch access to the Database server while allowing Web traffic.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72530"/>
            <a:ext cx="3492549" cy="4672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672530"/>
            <a:ext cx="3492549" cy="4672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672530"/>
            <a:ext cx="3492549" cy="467290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571500" y="571500"/>
            <a:ext cx="11601450" cy="57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LITERATURE REVIEW SUMMARY</a:t>
            </a:r>
            <a:endParaRPr dirty="0"/>
          </a:p>
        </p:txBody>
      </p:sp>
      <p:sp>
        <p:nvSpPr>
          <p:cNvPr id="159" name="Google Shape;159;p17"/>
          <p:cNvSpPr/>
          <p:nvPr/>
        </p:nvSpPr>
        <p:spPr>
          <a:xfrm>
            <a:off x="571500" y="1262955"/>
            <a:ext cx="11049000" cy="285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41450" y="210115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2022663" y="3291780"/>
            <a:ext cx="59007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VLSM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57250" y="3945135"/>
            <a:ext cx="292104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Variable Length Subnet Masking is the industry standard for IP optimization, allowing different subnet masks within the same network address space.</a:t>
            </a:r>
            <a:endParaRPr dirty="0"/>
          </a:p>
        </p:txBody>
      </p:sp>
      <p:pic>
        <p:nvPicPr>
          <p:cNvPr id="163" name="Google Shape;16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19750" y="210115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760958" y="3291780"/>
            <a:ext cx="67008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RIPV2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4635549" y="3945135"/>
            <a:ext cx="292104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Routing Information Protocol version 2 is selected for small to medium networks due to its simplicity, support for VLSM, and multicast updates.</a:t>
            </a:r>
            <a:endParaRPr/>
          </a:p>
        </p:txBody>
      </p:sp>
      <p:pic>
        <p:nvPicPr>
          <p:cNvPr id="166" name="Google Shape;16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98049" y="210115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9104203" y="3291780"/>
            <a:ext cx="154019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DMZ CONCEPT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413849" y="3945135"/>
            <a:ext cx="29211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Demilitarized Zone acts as a security buffer, exposing external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facing services (Web) while keeping internal assets (DB) strictly isolated.</a:t>
            </a:r>
            <a:endParaRPr/>
          </a:p>
        </p:txBody>
      </p:sp>
      <p:pic>
        <p:nvPicPr>
          <p:cNvPr id="169" name="Google Shape;16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51000" y="233928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57875" y="233928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36174" y="233928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BD6FC-7C7D-6CCB-269D-78F31BAD2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499" y="1063657"/>
            <a:ext cx="7104275" cy="311085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1E293B"/>
                </a:solidFill>
                <a:latin typeface="Oswald"/>
                <a:sym typeface="Oswald"/>
              </a:rPr>
              <a:t>METHODOLOGY</a:t>
            </a:r>
            <a:br>
              <a:rPr lang="en-US" dirty="0"/>
            </a:br>
            <a:endParaRPr lang="en-PK" dirty="0"/>
          </a:p>
        </p:txBody>
      </p:sp>
      <p:sp>
        <p:nvSpPr>
          <p:cNvPr id="4" name="Google Shape;159;p17">
            <a:extLst>
              <a:ext uri="{FF2B5EF4-FFF2-40B4-BE49-F238E27FC236}">
                <a16:creationId xmlns:a16="http://schemas.microsoft.com/office/drawing/2014/main" id="{65B9ECC4-2E51-75F4-BDD1-E85081CBE81B}"/>
              </a:ext>
            </a:extLst>
          </p:cNvPr>
          <p:cNvSpPr/>
          <p:nvPr/>
        </p:nvSpPr>
        <p:spPr>
          <a:xfrm>
            <a:off x="571500" y="1262955"/>
            <a:ext cx="11049000" cy="285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5E8FC7-4775-4956-807A-AE0D3B970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190" y="1490828"/>
            <a:ext cx="4684956" cy="5230483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A6DD0901-F3D8-78AE-680F-DF4D0310690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71499" y="1944016"/>
            <a:ext cx="547938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IP Planning:</a:t>
            </a:r>
            <a:r>
              <a:rPr kumimoji="0" lang="en-PK" altLang="en-PK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Efficient subnetting using </a:t>
            </a:r>
            <a:r>
              <a:rPr kumimoji="0" lang="en-PK" altLang="en-PK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VLSM.</a:t>
            </a:r>
            <a:endParaRPr kumimoji="0" lang="en-US" altLang="en-PK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PK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PK" altLang="en-PK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Topology:</a:t>
            </a:r>
            <a:r>
              <a:rPr kumimoji="0" lang="en-PK" altLang="en-PK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Designed and simulated in </a:t>
            </a:r>
            <a:r>
              <a:rPr kumimoji="0" lang="en-PK" altLang="en-PK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Packet Tracer.</a:t>
            </a:r>
            <a:endParaRPr kumimoji="0" lang="en-US" altLang="en-PK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PK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PK" altLang="en-PK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Routing:</a:t>
            </a:r>
            <a:r>
              <a:rPr kumimoji="0" lang="en-PK" altLang="en-PK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Hybrid </a:t>
            </a:r>
            <a:r>
              <a:rPr kumimoji="0" lang="en-PK" altLang="en-PK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RIPv2</a:t>
            </a:r>
            <a:r>
              <a:rPr kumimoji="0" lang="en-PK" altLang="en-PK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and </a:t>
            </a:r>
            <a:r>
              <a:rPr kumimoji="0" lang="en-PK" altLang="en-PK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Static Routing</a:t>
            </a:r>
            <a:r>
              <a:rPr kumimoji="0" lang="en-PK" altLang="en-PK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setup.</a:t>
            </a:r>
            <a:endParaRPr kumimoji="0" lang="en-US" altLang="en-PK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PK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PK" altLang="en-PK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Services:</a:t>
            </a:r>
            <a:r>
              <a:rPr kumimoji="0" lang="en-PK" altLang="en-PK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Automatic IP allocation via </a:t>
            </a:r>
            <a:r>
              <a:rPr kumimoji="0" lang="en-PK" altLang="en-PK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DHCP pools.</a:t>
            </a:r>
            <a:endParaRPr kumimoji="0" lang="en-US" altLang="en-PK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PK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PK" altLang="en-PK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Security:</a:t>
            </a:r>
            <a:r>
              <a:rPr kumimoji="0" lang="en-PK" altLang="en-PK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Access control via </a:t>
            </a:r>
            <a:r>
              <a:rPr kumimoji="0" lang="en-PK" altLang="en-PK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Standard &amp; Extended ACLs.</a:t>
            </a:r>
            <a:endParaRPr kumimoji="0" lang="en-US" altLang="en-PK" sz="1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PK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PK" altLang="en-PK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 panose="020B0604020202020204" charset="0"/>
              <a:ea typeface="Inter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Testing:</a:t>
            </a:r>
            <a:r>
              <a:rPr kumimoji="0" lang="en-PK" altLang="en-PK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 End-to-end </a:t>
            </a:r>
            <a:r>
              <a:rPr kumimoji="0" lang="en-PK" altLang="en-PK" sz="1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 panose="020B0604020202020204" charset="0"/>
                <a:ea typeface="Inter" panose="020B0604020202020204" charset="0"/>
              </a:rPr>
              <a:t>connectivity and policy validation.</a:t>
            </a:r>
          </a:p>
        </p:txBody>
      </p:sp>
    </p:spTree>
    <p:extLst>
      <p:ext uri="{BB962C8B-B14F-4D97-AF65-F5344CB8AC3E}">
        <p14:creationId xmlns:p14="http://schemas.microsoft.com/office/powerpoint/2010/main" val="1961640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672530"/>
            <a:ext cx="5238750" cy="461396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SYSTEM ARCHITECTURE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500" y="1262955"/>
            <a:ext cx="11049000" cy="285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571500" y="1980307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ARCHITECTURAL FLOW</a:t>
            </a:r>
            <a:endParaRPr/>
          </a:p>
        </p:txBody>
      </p:sp>
      <p:pic>
        <p:nvPicPr>
          <p:cNvPr id="180" name="Google Shape;18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1275" y="1682055"/>
            <a:ext cx="5219700" cy="459491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904875" y="24526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User Layer: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Authenticated users at HQ and Branch.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04875" y="2947987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Core Routing: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HQ Router acts as the gateway, managing traffic between local LANs and remote sites.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904875" y="40528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Secure Layer: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ACLs inspect every packet at the network edge.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904875" y="4852987"/>
            <a:ext cx="4905375" cy="93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DMZ Isolation:</a:t>
            </a:r>
            <a:endParaRPr/>
          </a:p>
        </p:txBody>
      </p:sp>
      <p:pic>
        <p:nvPicPr>
          <p:cNvPr id="185" name="Google Shape;18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717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670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719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7203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1238250" y="5253037"/>
            <a:ext cx="4572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Web Server: Accessible to all.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238250" y="5544442"/>
            <a:ext cx="4572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Database Server: Restricted to HQ only.</a:t>
            </a:r>
            <a:endParaRPr/>
          </a:p>
        </p:txBody>
      </p:sp>
      <p:pic>
        <p:nvPicPr>
          <p:cNvPr id="191" name="Google Shape;19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52720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556349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38" y="2010737"/>
            <a:ext cx="5500675" cy="421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571500" y="571500"/>
            <a:ext cx="11601450" cy="57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USE CASE DIAGRAM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571500" y="1262955"/>
            <a:ext cx="11049000" cy="285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6250781" y="2545854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ACTOR PERMISSIONS</a:t>
            </a:r>
            <a:endParaRPr dirty="0"/>
          </a:p>
        </p:txBody>
      </p:sp>
      <p:sp>
        <p:nvSpPr>
          <p:cNvPr id="201" name="Google Shape;201;p19"/>
          <p:cNvSpPr txBox="1"/>
          <p:nvPr/>
        </p:nvSpPr>
        <p:spPr>
          <a:xfrm>
            <a:off x="6372225" y="3065710"/>
            <a:ext cx="55008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1300" b="1" i="0" u="none" strike="noStrike" cap="none" dirty="0">
                <a:solidFill>
                  <a:srgbClr val="334155"/>
                </a:solidFill>
                <a:latin typeface="Oswald"/>
                <a:ea typeface="Oswald"/>
                <a:cs typeface="Oswald"/>
                <a:sym typeface="Oswald"/>
              </a:rPr>
              <a:t>BRANCH USER</a:t>
            </a:r>
            <a:endParaRPr sz="1500" dirty="0"/>
          </a:p>
        </p:txBody>
      </p:sp>
      <p:sp>
        <p:nvSpPr>
          <p:cNvPr id="202" name="Google Shape;202;p19"/>
          <p:cNvSpPr txBox="1"/>
          <p:nvPr/>
        </p:nvSpPr>
        <p:spPr>
          <a:xfrm>
            <a:off x="6448425" y="3808883"/>
            <a:ext cx="55008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1300" b="1" i="0" u="none" strike="noStrike" cap="none" dirty="0">
                <a:solidFill>
                  <a:srgbClr val="334155"/>
                </a:solidFill>
                <a:latin typeface="Oswald"/>
                <a:ea typeface="Oswald"/>
                <a:cs typeface="Oswald"/>
                <a:sym typeface="Oswald"/>
              </a:rPr>
              <a:t>HQ USER</a:t>
            </a:r>
            <a:endParaRPr sz="1500" dirty="0"/>
          </a:p>
        </p:txBody>
      </p:sp>
      <p:sp>
        <p:nvSpPr>
          <p:cNvPr id="203" name="Google Shape;203;p19"/>
          <p:cNvSpPr txBox="1"/>
          <p:nvPr/>
        </p:nvSpPr>
        <p:spPr>
          <a:xfrm>
            <a:off x="6415087" y="4580184"/>
            <a:ext cx="55008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334155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1300" b="1" i="0" u="none" strike="noStrike" cap="none" dirty="0">
                <a:solidFill>
                  <a:srgbClr val="334155"/>
                </a:solidFill>
                <a:latin typeface="Oswald"/>
                <a:ea typeface="Oswald"/>
                <a:cs typeface="Oswald"/>
                <a:sym typeface="Oswald"/>
              </a:rPr>
              <a:t>NETWORK ADMIN</a:t>
            </a:r>
            <a:endParaRPr sz="1500" dirty="0"/>
          </a:p>
        </p:txBody>
      </p:sp>
      <p:sp>
        <p:nvSpPr>
          <p:cNvPr id="204" name="Google Shape;204;p19"/>
          <p:cNvSpPr txBox="1"/>
          <p:nvPr/>
        </p:nvSpPr>
        <p:spPr>
          <a:xfrm>
            <a:off x="6393650" y="4904182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Routing Config, ACL Management, Logging &amp; Monitoring.</a:t>
            </a:r>
            <a:endParaRPr dirty="0"/>
          </a:p>
        </p:txBody>
      </p:sp>
      <p:pic>
        <p:nvPicPr>
          <p:cNvPr id="205" name="Google Shape;20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175" y="3092016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354809"/>
            <a:ext cx="1362075" cy="369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86700" y="3354809"/>
            <a:ext cx="1733550" cy="369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84523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118521"/>
            <a:ext cx="1362075" cy="369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86700" y="4118521"/>
            <a:ext cx="1762125" cy="369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81750" y="4627476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59600" y="2295888"/>
            <a:ext cx="5238750" cy="3648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/>
        </p:nvSpPr>
        <p:spPr>
          <a:xfrm>
            <a:off x="571500" y="571500"/>
            <a:ext cx="11601450" cy="57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KEY TEST CASES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71500" y="1262955"/>
            <a:ext cx="11049000" cy="285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" name="Google Shape;219;p20"/>
          <p:cNvGraphicFramePr/>
          <p:nvPr/>
        </p:nvGraphicFramePr>
        <p:xfrm>
          <a:off x="571500" y="1672530"/>
          <a:ext cx="11049000" cy="4713000"/>
        </p:xfrm>
        <a:graphic>
          <a:graphicData uri="http://schemas.openxmlformats.org/drawingml/2006/table">
            <a:tbl>
              <a:tblPr firstRow="1" bandRow="1">
                <a:noFill/>
                <a:tableStyleId>{186BE454-7F81-4ACC-82B1-54E1188CBA3F}</a:tableStyleId>
              </a:tblPr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Case 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Source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Destination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Result / 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Branch PC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Web Server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Branch PC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Database Server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HQ PC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Database Server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HQ PC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Web Server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TC-05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HQ PC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DHCP Request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0" name="Google Shape;220;p20"/>
          <p:cNvSpPr/>
          <p:nvPr/>
        </p:nvSpPr>
        <p:spPr>
          <a:xfrm>
            <a:off x="571500" y="3066008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228850" y="3066008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991100" y="3066008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7753350" y="3066008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71500" y="4123283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2228850" y="4123283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4991100" y="4123283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7753350" y="4123283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571500" y="4875758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2228850" y="4875758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4991100" y="4875758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7753350" y="4875758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571500" y="5628233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2228850" y="5628233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4991100" y="5628233"/>
            <a:ext cx="276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7753350" y="5628233"/>
            <a:ext cx="3867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2400" y="2600245"/>
            <a:ext cx="11049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72400" y="3310825"/>
            <a:ext cx="2854548" cy="57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3850" y="4181833"/>
            <a:ext cx="11049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43850" y="4997900"/>
            <a:ext cx="1104900" cy="400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43850" y="5813970"/>
            <a:ext cx="140017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72530"/>
            <a:ext cx="3492549" cy="4672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672530"/>
            <a:ext cx="3492549" cy="4672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672530"/>
            <a:ext cx="3492549" cy="467290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571500" y="571500"/>
            <a:ext cx="11601450" cy="57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MARKET VALUE &amp; IMPACT</a:t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571500" y="1262955"/>
            <a:ext cx="11049000" cy="285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41450" y="210115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1327576" y="3291780"/>
            <a:ext cx="198024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TARGET AUDIENCE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857250" y="3945135"/>
            <a:ext cx="29211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Ideal solution for SMEs (Small to Medium Enterprises), academic laboratories, and technical training centers requiring secure, low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cost simulation.</a:t>
            </a:r>
            <a:endParaRPr/>
          </a:p>
        </p:txBody>
      </p:sp>
      <p:pic>
        <p:nvPicPr>
          <p:cNvPr id="253" name="Google Shape;25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19750" y="210115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4830841" y="3291780"/>
            <a:ext cx="2530316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SKILL DEMONSTRATION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4635549" y="3945135"/>
            <a:ext cx="29211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Validates high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level competency in enterprise security, switching, and routing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key skills for modern Network Engineers.</a:t>
            </a:r>
            <a:endParaRPr/>
          </a:p>
        </p:txBody>
      </p:sp>
      <p:pic>
        <p:nvPicPr>
          <p:cNvPr id="256" name="Google Shape;256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98049" y="210115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8844170" y="3291780"/>
            <a:ext cx="206025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COMPETITIVE EDGE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8413849" y="3945135"/>
            <a:ext cx="292104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Comparable to configurations found in Cisco Meraki or Fortigate deployments, offering a strong foundational model for commercial use.</a:t>
            </a:r>
            <a:endParaRPr/>
          </a:p>
        </p:txBody>
      </p:sp>
      <p:pic>
        <p:nvPicPr>
          <p:cNvPr id="259" name="Google Shape;259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36725" y="2339280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57875" y="233928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36174" y="233928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/>
          <p:nvPr/>
        </p:nvSpPr>
        <p:spPr>
          <a:xfrm>
            <a:off x="571500" y="571500"/>
            <a:ext cx="11601450" cy="57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PROJECT TIMELINE (GANTT CHART)</a:t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571500" y="1262955"/>
            <a:ext cx="11049000" cy="285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8" name="Google Shape;268;p22"/>
          <p:cNvGraphicFramePr/>
          <p:nvPr/>
        </p:nvGraphicFramePr>
        <p:xfrm>
          <a:off x="571500" y="1942058"/>
          <a:ext cx="11039500" cy="3293750"/>
        </p:xfrm>
        <a:graphic>
          <a:graphicData uri="http://schemas.openxmlformats.org/drawingml/2006/table">
            <a:tbl>
              <a:tblPr firstRow="1" bandRow="1">
                <a:noFill/>
                <a:tableStyleId>{186BE454-7F81-4ACC-82B1-54E1188CBA3F}</a:tableStyleId>
              </a:tblPr>
              <a:tblGrid>
                <a:gridCol w="331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2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Project Phase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Weeks 1–2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Weeks 3–4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Weeks 5–6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Oswald Medium"/>
                          <a:ea typeface="Oswald Medium"/>
                          <a:cs typeface="Oswald Medium"/>
                          <a:sym typeface="Oswald Medium"/>
                        </a:rPr>
                        <a:t>Weeks 7–8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E749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Research &amp; VLSM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E749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Configuration &amp; Routing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E749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ACL Security Policies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E749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Testing &amp; Final Report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9" name="Google Shape;269;p22"/>
          <p:cNvSpPr txBox="1"/>
          <p:nvPr/>
        </p:nvSpPr>
        <p:spPr>
          <a:xfrm>
            <a:off x="571500" y="5521523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Horizontal bars indicate active phase duration.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576262" y="4583310"/>
            <a:ext cx="33118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576262" y="4583310"/>
            <a:ext cx="9525" cy="6524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3878609" y="4583310"/>
            <a:ext cx="9525" cy="6524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3888134" y="4583310"/>
            <a:ext cx="1931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3888134" y="4583310"/>
            <a:ext cx="9525" cy="6524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5810398" y="4583310"/>
            <a:ext cx="9525" cy="6524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5819923" y="4583310"/>
            <a:ext cx="1931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5819923" y="4583310"/>
            <a:ext cx="9525" cy="6524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7742187" y="4583310"/>
            <a:ext cx="9525" cy="6524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7751712" y="4583310"/>
            <a:ext cx="1931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7751712" y="4583310"/>
            <a:ext cx="9525" cy="6524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9673976" y="4583310"/>
            <a:ext cx="9525" cy="6524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9683501" y="4583310"/>
            <a:ext cx="19322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9683501" y="4583310"/>
            <a:ext cx="9525" cy="6524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11606212" y="4583310"/>
            <a:ext cx="9525" cy="6524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4083397" y="2797373"/>
            <a:ext cx="1541264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6015186" y="3454598"/>
            <a:ext cx="1541264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7946975" y="4111823"/>
            <a:ext cx="1541264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9878764" y="4769048"/>
            <a:ext cx="154171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672530"/>
            <a:ext cx="5238750" cy="461396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 txBox="1"/>
          <p:nvPr/>
        </p:nvSpPr>
        <p:spPr>
          <a:xfrm>
            <a:off x="571500" y="571500"/>
            <a:ext cx="11601450" cy="57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CONCLUSION</a:t>
            </a: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571500" y="1262955"/>
            <a:ext cx="11049000" cy="285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 txBox="1"/>
          <p:nvPr/>
        </p:nvSpPr>
        <p:spPr>
          <a:xfrm>
            <a:off x="571500" y="2185987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7490"/>
                </a:solidFill>
                <a:latin typeface="Oswald"/>
                <a:ea typeface="Oswald"/>
                <a:cs typeface="Oswald"/>
                <a:sym typeface="Oswald"/>
              </a:rPr>
              <a:t>PROJECT ACHIEVEMENTS</a:t>
            </a:r>
            <a:endParaRPr/>
          </a:p>
        </p:txBody>
      </p:sp>
      <p:pic>
        <p:nvPicPr>
          <p:cNvPr id="297" name="Google Shape;29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91275" y="1682055"/>
            <a:ext cx="5219700" cy="459491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3"/>
          <p:cNvSpPr txBox="1"/>
          <p:nvPr/>
        </p:nvSpPr>
        <p:spPr>
          <a:xfrm>
            <a:off x="904875" y="274409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Zero IP Wastage: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Successfully achieved through precise VLSM calculation and implementation.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904875" y="3544192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Robust Security: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Database is fully protected from unauthorized Branch access, verified by ACL testing.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904875" y="4453842"/>
            <a:ext cx="4905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Enterprise-Ready: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design is secure, scalable, and follows modular architecture principles suitable for real-world deployment.</a:t>
            </a:r>
            <a:endParaRPr/>
          </a:p>
        </p:txBody>
      </p:sp>
      <p:pic>
        <p:nvPicPr>
          <p:cNvPr id="301" name="Google Shape;30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6314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6324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5384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72530"/>
            <a:ext cx="5238750" cy="4613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72530"/>
            <a:ext cx="5238750" cy="461396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4"/>
          <p:cNvSpPr txBox="1"/>
          <p:nvPr/>
        </p:nvSpPr>
        <p:spPr>
          <a:xfrm>
            <a:off x="571500" y="571500"/>
            <a:ext cx="11601450" cy="577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Oswald"/>
                <a:ea typeface="Oswald"/>
                <a:cs typeface="Oswald"/>
                <a:sym typeface="Oswald"/>
              </a:rPr>
              <a:t>REFERENCES</a:t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571500" y="1262955"/>
            <a:ext cx="11049000" cy="28575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4"/>
          <p:cNvSpPr txBox="1"/>
          <p:nvPr/>
        </p:nvSpPr>
        <p:spPr>
          <a:xfrm>
            <a:off x="1524000" y="3250852"/>
            <a:ext cx="3905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Tanenbaum, A. S.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Computer Networks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(5th Edition). Pearson Education.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1524000" y="4098577"/>
            <a:ext cx="3905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Cisco Systems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Cisco IOS IP Routing: RIP Configuration Guide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7334250" y="3098452"/>
            <a:ext cx="3905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Baker, F.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(1995).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RFC 1812: Requirements for IP Version 4 Routers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IETF.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7334250" y="3946177"/>
            <a:ext cx="3905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Kurose, J. F., &amp; Ross, K. W.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Computer Networking: A Top-Down Approach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Pearson.</a:t>
            </a:r>
            <a:endParaRPr/>
          </a:p>
        </p:txBody>
      </p:sp>
      <p:pic>
        <p:nvPicPr>
          <p:cNvPr id="316" name="Google Shape;31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90625" y="32699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90625" y="411762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0875" y="311750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0875" y="396522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732</Words>
  <Application>Microsoft Office PowerPoint</Application>
  <PresentationFormat>Widescreen</PresentationFormat>
  <Paragraphs>114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Inter</vt:lpstr>
      <vt:lpstr>Oswald Medium</vt:lpstr>
      <vt:lpstr>Inter SemiBold</vt:lpstr>
      <vt:lpstr>Inter Medium</vt:lpstr>
      <vt:lpstr>Oswald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Zbook</dc:creator>
  <cp:lastModifiedBy>AHMAD SALEEM</cp:lastModifiedBy>
  <cp:revision>2</cp:revision>
  <dcterms:modified xsi:type="dcterms:W3CDTF">2025-12-23T10:32:48Z</dcterms:modified>
</cp:coreProperties>
</file>